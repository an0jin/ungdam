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8" r:id="rId10"/>
    <p:sldId id="277" r:id="rId11"/>
    <p:sldId id="279" r:id="rId12"/>
    <p:sldId id="280" r:id="rId13"/>
    <p:sldId id="281" r:id="rId14"/>
    <p:sldId id="282" r:id="rId15"/>
    <p:sldId id="284" r:id="rId16"/>
    <p:sldId id="285" r:id="rId17"/>
    <p:sldId id="270" r:id="rId18"/>
    <p:sldId id="286" r:id="rId19"/>
    <p:sldId id="287" r:id="rId20"/>
    <p:sldId id="259" r:id="rId21"/>
    <p:sldId id="264" r:id="rId22"/>
    <p:sldId id="288" r:id="rId23"/>
  </p:sldIdLst>
  <p:sldSz cx="12192000" cy="6858000"/>
  <p:notesSz cx="6858000" cy="9144000"/>
  <p:embeddedFontLst>
    <p:embeddedFont>
      <p:font typeface="Afacad Flux" panose="020B0600000101010101" charset="0"/>
      <p:regular r:id="rId25"/>
      <p:bold r:id="rId26"/>
    </p:embeddedFont>
    <p:embeddedFont>
      <p:font typeface="Comfortaa" panose="020B0600000101010101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0" y="21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C0572BA1-19CD-C58B-97F7-DE7E93A72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7B209FA7-1088-8F80-A324-2D0228283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CAEF88C4-E077-C1C3-BED4-6C3ADAC80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1044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0511CF75-77E9-2C8E-B07B-9661625BC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BA63351E-B592-CD95-EB86-F46CE4740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D204FF85-2DDC-378B-5BD4-0C0B21BB2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7871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9A10B24F-24B6-C7CE-74B6-C32BBFAB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359DAFB0-7FDD-5177-9CD7-2BE4CE9B4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3E8A2CC5-D0F7-F18B-7E48-203D8F4D1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0066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D67E463-D787-15A4-1F25-38AE3F46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7A6B789C-4F83-0293-6FC2-06B07D4F6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C7E9168-3D81-3E65-DD0A-2AEA696A8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3740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56280981-FF78-4393-5CE4-1C4A5D0B2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>
            <a:extLst>
              <a:ext uri="{FF2B5EF4-FFF2-40B4-BE49-F238E27FC236}">
                <a16:creationId xmlns:a16="http://schemas.microsoft.com/office/drawing/2014/main" id="{EAFE09F2-DCF6-11C3-A0DF-DA4E672EA8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>
            <a:extLst>
              <a:ext uri="{FF2B5EF4-FFF2-40B4-BE49-F238E27FC236}">
                <a16:creationId xmlns:a16="http://schemas.microsoft.com/office/drawing/2014/main" id="{9C72FFF2-B7E0-9679-290F-5C7306E21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084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7EA1643-98C7-2C31-844F-6C8FA522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F3CBCCB9-3253-8628-BCCA-C62006025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8101C7B0-F1D4-9958-9693-0737CF0F8A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4966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21EA57F-6ED7-6A0C-9EAC-DE1EFB58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014FC38-2484-15B4-B99C-65FD3DCAF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3F81B57-118C-5873-EB08-FCE35E346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389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EE256AC-6B02-7526-0D81-FCFD0F3C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4D778796-47AD-3FB9-F128-331FB8D034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5D553D24-66CA-1733-D058-3831F2B3A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8737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E11499FC-8753-5E2F-DC8E-07D8A37C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1E8EBC53-8E7A-0A2B-7C81-64D78A2DD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1BA89141-2E96-50C2-76D0-01B80C32D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8870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60BF2122-37EF-6473-ECE3-E5047F3A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>
            <a:extLst>
              <a:ext uri="{FF2B5EF4-FFF2-40B4-BE49-F238E27FC236}">
                <a16:creationId xmlns:a16="http://schemas.microsoft.com/office/drawing/2014/main" id="{D9730D15-6039-0C53-D4A2-A68CE26F69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>
            <a:extLst>
              <a:ext uri="{FF2B5EF4-FFF2-40B4-BE49-F238E27FC236}">
                <a16:creationId xmlns:a16="http://schemas.microsoft.com/office/drawing/2014/main" id="{03F3BAE5-64D7-71AF-9E41-7887F49D3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5944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36561D5-9F55-4DB6-F80A-1E28091DC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338F384F-CC87-E170-6446-BAE3774B0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84F3219-DF6E-640A-ECF3-4D5D3B821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3994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6C078865-CD72-E72F-17C9-D3E40BE7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D624FCA6-A6BF-BFBF-BC26-E331FFC43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4BD3996C-1E4A-1B39-8F2F-B48DF10CA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6785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F37F75F1-0741-441B-6571-2558A057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D5BCF5F7-E85A-86B3-25E7-F414165667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49C8DB3-1F0A-7803-0546-A2E753E9A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461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D8C7FEF-2490-B9A1-F7D8-CE21682A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8CAB920A-6F26-7166-9ECF-A797EF996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964BF798-B0B5-E6FE-E81F-2C17C5880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18086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82068BE7-436C-8F30-C812-3778AFBEA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B96C9AE4-740A-537F-CB4D-E95089D618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D86568A6-6707-DE98-6CB8-01C2068AB4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23538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033B04A-078A-628C-52BF-74FA9A96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0A4B99A0-2D5A-2FAF-9D0C-2015E5A78B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42E957C3-BA69-3BBF-A90F-1E8D92394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7487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F6A8D4DC-C645-8CDD-D098-F262AB88F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DE6E1D51-9A82-9826-4A56-DE26EB74E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0D644B72-2DA1-DA9A-7C03-40F70EB1B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55598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BF15F52A-1675-B754-7D01-E6510A4D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>
            <a:extLst>
              <a:ext uri="{FF2B5EF4-FFF2-40B4-BE49-F238E27FC236}">
                <a16:creationId xmlns:a16="http://schemas.microsoft.com/office/drawing/2014/main" id="{BA4C6CFC-7CC5-2866-E3DF-9CC1E03DB0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>
            <a:extLst>
              <a:ext uri="{FF2B5EF4-FFF2-40B4-BE49-F238E27FC236}">
                <a16:creationId xmlns:a16="http://schemas.microsoft.com/office/drawing/2014/main" id="{A3AFB4AB-E5A0-8BD3-D5FA-3806EBBDFB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3050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D8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71675"/>
            <a:ext cx="11601450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7500" b="1" i="0" u="none" strike="noStrike" cap="none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컴퓨터 이론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57675"/>
            <a:ext cx="11049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안영진 선생님과 떠나는 상상 여행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334125" y="2900362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u="none" strike="noStrike" cap="none" dirty="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학습 목표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6334125" y="3805237"/>
            <a:ext cx="585787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하드웨어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소프트웨어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AR,VR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의 개념을 배웁니다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AR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소프트웨어에 대한 체험을 합니다</a:t>
            </a:r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진도 나갈 페이지 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: 6page~11page</a:t>
            </a:r>
            <a:endParaRPr dirty="0"/>
          </a:p>
        </p:txBody>
      </p:sp>
      <p:pic>
        <p:nvPicPr>
          <p:cNvPr id="1026" name="Picture 2" descr="AI수업이 아니라 위도우 기초 수업이야">
            <a:extLst>
              <a:ext uri="{FF2B5EF4-FFF2-40B4-BE49-F238E27FC236}">
                <a16:creationId xmlns:a16="http://schemas.microsoft.com/office/drawing/2014/main" id="{937ADDF3-624B-EFEA-0313-4584C2781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14" y="1653892"/>
            <a:ext cx="4302690" cy="430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54D0C010-5CA7-4037-C6AD-CFB3A5A4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>
            <a:extLst>
              <a:ext uri="{FF2B5EF4-FFF2-40B4-BE49-F238E27FC236}">
                <a16:creationId xmlns:a16="http://schemas.microsoft.com/office/drawing/2014/main" id="{BE36B727-39E4-DB51-F2FA-B1944ADCE9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>
            <a:extLst>
              <a:ext uri="{FF2B5EF4-FFF2-40B4-BE49-F238E27FC236}">
                <a16:creationId xmlns:a16="http://schemas.microsoft.com/office/drawing/2014/main" id="{195EBF8A-C963-6BDB-5290-C25CCD304C2B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하드웨어</a:t>
            </a:r>
            <a:endParaRPr dirty="0"/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98B0135A-20A1-5EFD-5F88-6AC5DCBD9A64}"/>
              </a:ext>
            </a:extLst>
          </p:cNvPr>
          <p:cNvSpPr txBox="1"/>
          <p:nvPr/>
        </p:nvSpPr>
        <p:spPr>
          <a:xfrm>
            <a:off x="618734" y="1743163"/>
            <a:ext cx="9953233" cy="2239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책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</a:p>
          <a:p>
            <a:pPr lvl="0"/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딱딱한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이라는 뜻의 하드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(hard)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와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제품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이라는 뜻의 </a:t>
            </a:r>
            <a:r>
              <a:rPr lang="ko-KR" altLang="en-US" sz="195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웨어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(ware)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의 두 단어가 복합되어 이루어진 단어로 컴퓨터를 비롯한 시스템의 물리적 구성품을 말합니다</a:t>
            </a:r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쉽게 표현하기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하드웨어는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딱딱한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(Hard)' 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물건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(Ware)'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이라는 뜻이에요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쉽게 말해서 우리 손으로 만질 수 있는 컴퓨터 본체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모니터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마우스 같은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기계 덩어리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를 말한답니다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53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82CD3B6C-D0CD-1477-730B-C0E7A582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>
            <a:extLst>
              <a:ext uri="{FF2B5EF4-FFF2-40B4-BE49-F238E27FC236}">
                <a16:creationId xmlns:a16="http://schemas.microsoft.com/office/drawing/2014/main" id="{1F9AB768-C38F-5104-1282-C849AE29B7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>
            <a:extLst>
              <a:ext uri="{FF2B5EF4-FFF2-40B4-BE49-F238E27FC236}">
                <a16:creationId xmlns:a16="http://schemas.microsoft.com/office/drawing/2014/main" id="{A7BA4F72-5B89-2FD6-96A9-929C9D5820B0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하드웨어의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종류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B09B76-AAFE-E1DC-4DB6-805CAE3D4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101" y="1452286"/>
            <a:ext cx="6077798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74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D9318D80-3B6E-C86C-5C6C-806FCCC7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FFBEB304-E2F3-3228-18C9-46ED957433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37937EB4-2A08-2B33-5359-894791C1DFB2}"/>
              </a:ext>
            </a:extLst>
          </p:cNvPr>
          <p:cNvSpPr txBox="1"/>
          <p:nvPr/>
        </p:nvSpPr>
        <p:spPr>
          <a:xfrm>
            <a:off x="5260932" y="3054905"/>
            <a:ext cx="672314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책상 위 정해진 위치에 놓고 사용하는 개인용 컴퓨터를 말합니다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817B0C38-011D-C39E-6D15-E505F925CA46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데스크톱이란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7626A33-F965-D03C-533F-4A3CB2546D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315" r="38502" b="59073"/>
          <a:stretch>
            <a:fillRect/>
          </a:stretch>
        </p:blipFill>
        <p:spPr>
          <a:xfrm>
            <a:off x="1051545" y="1474793"/>
            <a:ext cx="3300761" cy="435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88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60CF766-40BF-E708-D205-3A2775B9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4B56EBEC-8F5F-BBED-514D-80EA55EA2F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8671D715-D6C9-B154-8631-41B29128A89B}"/>
              </a:ext>
            </a:extLst>
          </p:cNvPr>
          <p:cNvSpPr txBox="1"/>
          <p:nvPr/>
        </p:nvSpPr>
        <p:spPr>
          <a:xfrm>
            <a:off x="4571998" y="3282426"/>
            <a:ext cx="760095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데스크톱보다 크기가 작고 가볍기 때문에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</a:p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어디서 쉽게 들고 다닐 수 있습니다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F03148F5-81BA-03EB-1D69-298082C4DF68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노트북이란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A1B151-41F7-BC30-1E03-6B4C1EB22E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800" t="24003" r="12694" b="38200"/>
          <a:stretch>
            <a:fillRect/>
          </a:stretch>
        </p:blipFill>
        <p:spPr>
          <a:xfrm>
            <a:off x="571500" y="1743325"/>
            <a:ext cx="3494049" cy="381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399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BD928FA8-8C40-0F33-C863-DAE7D371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descr="image.png">
            <a:extLst>
              <a:ext uri="{FF2B5EF4-FFF2-40B4-BE49-F238E27FC236}">
                <a16:creationId xmlns:a16="http://schemas.microsoft.com/office/drawing/2014/main" id="{0B33385E-871C-1AA3-AC41-6980C638BF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9FAA9B6A-A0B7-8770-88FA-DB9B44DCF8D6}"/>
              </a:ext>
            </a:extLst>
          </p:cNvPr>
          <p:cNvSpPr txBox="1"/>
          <p:nvPr/>
        </p:nvSpPr>
        <p:spPr>
          <a:xfrm>
            <a:off x="116186" y="1781473"/>
            <a:ext cx="1195962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4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그럼 </a:t>
            </a:r>
            <a:r>
              <a:rPr lang="ko-KR" altLang="en-US" sz="5400" b="1" i="0" u="none" strike="noStrike" cap="none" dirty="0" err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데스크톱말고</a:t>
            </a:r>
            <a:r>
              <a:rPr lang="ko-KR" altLang="en-US" sz="54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노트북만 쓸까요</a:t>
            </a:r>
            <a:r>
              <a:rPr lang="en-US" altLang="ko-KR" sz="54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sz="1000" dirty="0"/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A190A02D-5905-3A08-86D7-52B2797161B4}"/>
              </a:ext>
            </a:extLst>
          </p:cNvPr>
          <p:cNvSpPr txBox="1"/>
          <p:nvPr/>
        </p:nvSpPr>
        <p:spPr>
          <a:xfrm>
            <a:off x="3314700" y="3186112"/>
            <a:ext cx="55626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안영진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선생님이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무엇이든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답해줄게요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!</a:t>
            </a:r>
            <a:endParaRPr dirty="0"/>
          </a:p>
        </p:txBody>
      </p:sp>
      <p:sp>
        <p:nvSpPr>
          <p:cNvPr id="192" name="Google Shape;192;p23">
            <a:extLst>
              <a:ext uri="{FF2B5EF4-FFF2-40B4-BE49-F238E27FC236}">
                <a16:creationId xmlns:a16="http://schemas.microsoft.com/office/drawing/2014/main" id="{463D24FE-4BEE-B1AF-1D24-F9C9C73750B4}"/>
              </a:ext>
            </a:extLst>
          </p:cNvPr>
          <p:cNvSpPr txBox="1"/>
          <p:nvPr/>
        </p:nvSpPr>
        <p:spPr>
          <a:xfrm>
            <a:off x="3314700" y="4614862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여러분의 멋진 미래를 응원합니다!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675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17C54EE-8388-88FF-F330-A8CA8A3E0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E74DF709-01FA-BE97-7C69-C4D019265F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50AB316C-C571-9DBC-F111-8BBF2F853236}"/>
              </a:ext>
            </a:extLst>
          </p:cNvPr>
          <p:cNvSpPr txBox="1"/>
          <p:nvPr/>
        </p:nvSpPr>
        <p:spPr>
          <a:xfrm>
            <a:off x="6334125" y="2004069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u="none" strike="noStrike" cap="none" dirty="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아니요</a:t>
            </a:r>
            <a:endParaRPr dirty="0"/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10F73CA5-C528-4338-AFB3-6FEF2C0FF670}"/>
              </a:ext>
            </a:extLst>
          </p:cNvPr>
          <p:cNvSpPr txBox="1"/>
          <p:nvPr/>
        </p:nvSpPr>
        <p:spPr>
          <a:xfrm>
            <a:off x="6334125" y="2908944"/>
            <a:ext cx="5753491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왜냐하면 </a:t>
            </a:r>
            <a:r>
              <a:rPr lang="ko-KR" altLang="en-US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노트북은 가볍고 들고 다니기 좋지만</a:t>
            </a:r>
            <a:r>
              <a:rPr lang="en-US" altLang="ko-KR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같은 가격의 데스크톱에 비해 성능이 낮을 수 있고 고장 났을 때 부품을 바꾸기가 어렵다는 단점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도 있습니다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  <a:p>
            <a:pPr lvl="0"/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만약 </a:t>
            </a:r>
            <a:r>
              <a:rPr lang="ko-KR" altLang="en-US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컴퓨터의 저장 공간을 늘리고 싶다면 데스크톱은 필요한 부품만 사서 직접 끼우기 쉽지만</a:t>
            </a:r>
            <a:r>
              <a:rPr lang="en-US" altLang="ko-KR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b="1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노트북은 부품을 바꾸기 까다로워 전문가의 도움을 받아야 하는 경우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가 많기 때문입니다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6A1E4006-3F6D-56E1-CF23-9EF06E58BB78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정답은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4" name="그림 3" descr="만화 영화, 클립아트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DEA885-773D-FF3F-E2EA-B9EAD027C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34" y="1621359"/>
            <a:ext cx="4172915" cy="417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18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9B8B534-9E5C-65F8-F434-CEF5CE25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2C27041A-5A4F-6B29-106D-9930E2F39C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8273F822-BEBB-5ADA-D069-EF573D88B6C8}"/>
              </a:ext>
            </a:extLst>
          </p:cNvPr>
          <p:cNvSpPr txBox="1"/>
          <p:nvPr/>
        </p:nvSpPr>
        <p:spPr>
          <a:xfrm>
            <a:off x="4168415" y="3025458"/>
            <a:ext cx="768187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안드로이드 태블릿은 구글이 개발한 안드로이드 운영체제를 사용하는 </a:t>
            </a:r>
            <a:r>
              <a:rPr lang="ko-KR" altLang="en-US" sz="240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태볼릿이고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IOS </a:t>
            </a:r>
            <a:r>
              <a:rPr lang="ko-KR" altLang="en-US" sz="240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태블릿는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애플이 개발한 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IOS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운영체제를 사용하는 태블릿 입니다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1C7C5645-D2C8-6DA5-C06C-0675344ABB25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 err="1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태블릿이란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334942-E243-C66D-4F08-33BA8ECD3E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109" t="64750" r="27041" b="-1726"/>
          <a:stretch>
            <a:fillRect/>
          </a:stretch>
        </p:blipFill>
        <p:spPr>
          <a:xfrm>
            <a:off x="1348678" y="1869424"/>
            <a:ext cx="2478024" cy="430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24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E523B42-EB2A-EAD1-A564-58B09B76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C0FB76BD-3AA7-04BC-E6E6-DCD7EA5FAA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B99BFD93-78AD-EE96-99E0-DE8B100F7DD4}"/>
              </a:ext>
            </a:extLst>
          </p:cNvPr>
          <p:cNvSpPr txBox="1"/>
          <p:nvPr/>
        </p:nvSpPr>
        <p:spPr>
          <a:xfrm>
            <a:off x="4333645" y="2855546"/>
            <a:ext cx="768187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스마트폰은 전화 문자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인터넷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게임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음악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동영상 등 다양한 기능을 제공하는 휴대용 컴퓨터입니다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스마트폰은 손안의 작은 컴퓨터라고 불리는 만큼 언제 어디서나 필요한 정보를 얻고 사람들과 소통하며 다양한 콘텐츠를 사용할 수 있습니다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1AD76F86-02CC-C0CD-7F08-D35BCFEB08BA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스마트폰이란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31BF41C-40D4-3953-0C2C-F0A57EB6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688" t="68212" r="57778"/>
          <a:stretch>
            <a:fillRect/>
          </a:stretch>
        </p:blipFill>
        <p:spPr>
          <a:xfrm>
            <a:off x="1007705" y="1585282"/>
            <a:ext cx="2904931" cy="413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6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4A45241-9B2C-AD90-68D7-E139FDAC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12244C6D-F3A1-4EA9-BB9F-1EA2BF6ACE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BFD226D9-7838-DC89-4199-B67665CD080B}"/>
              </a:ext>
            </a:extLst>
          </p:cNvPr>
          <p:cNvSpPr txBox="1"/>
          <p:nvPr/>
        </p:nvSpPr>
        <p:spPr>
          <a:xfrm>
            <a:off x="4333645" y="2354505"/>
            <a:ext cx="768187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웨어러블 디바이스는 신체에 착용할 수 있는 소형 컴퓨터입니다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  <a:r>
              <a:rPr lang="ko-KR" altLang="en-US" sz="240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스마트워치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밴드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안경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목걸이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셔츠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신발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생체 이식 등의 여러 종류가 있으며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각 디바이스는 음성인식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건강관리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촬영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미디어 컨트롤러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증강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현실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가상현실 등의 기능을 제공합니다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D9F3F0A0-268B-77AB-A16B-A529A1033F4C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웨어러블 디바이스란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5E7D329-5E3F-7A33-FCBA-76900265FB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72" t="26259" r="64189" b="35380"/>
          <a:stretch>
            <a:fillRect/>
          </a:stretch>
        </p:blipFill>
        <p:spPr>
          <a:xfrm>
            <a:off x="757353" y="1747927"/>
            <a:ext cx="3317777" cy="3739375"/>
          </a:xfrm>
          <a:prstGeom prst="rect">
            <a:avLst/>
          </a:prstGeom>
        </p:spPr>
      </p:pic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D8A83755-0247-75F8-E20A-CBDFD4F69E61}"/>
              </a:ext>
            </a:extLst>
          </p:cNvPr>
          <p:cNvSpPr txBox="1"/>
          <p:nvPr/>
        </p:nvSpPr>
        <p:spPr>
          <a:xfrm>
            <a:off x="4333645" y="4201164"/>
            <a:ext cx="768187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증강현실 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: 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현실 세계에 가상 정보를 덧입히는 기술을 사용합니다 </a:t>
            </a: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marL="342900" lvl="0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가상현실</a:t>
            </a:r>
            <a:r>
              <a:rPr lang="en-US" altLang="ko-K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:</a:t>
            </a:r>
            <a:r>
              <a:rPr lang="ko-KR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facad Flux"/>
                <a:ea typeface="Afacad Flux"/>
                <a:cs typeface="Afacad Flux"/>
                <a:sym typeface="Afacad Flux"/>
              </a:rPr>
              <a:t>현실 세계를 차단하고 가상 세계를 보여주는 기술을 사용합니다</a:t>
            </a:r>
            <a:endParaRPr lang="en-US" altLang="ko-KR" sz="1800" dirty="0">
              <a:solidFill>
                <a:schemeClr val="tx1">
                  <a:lumMod val="50000"/>
                  <a:lumOff val="50000"/>
                </a:schemeClr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</p:spTree>
    <p:extLst>
      <p:ext uri="{BB962C8B-B14F-4D97-AF65-F5344CB8AC3E}">
        <p14:creationId xmlns:p14="http://schemas.microsoft.com/office/powerpoint/2010/main" val="4100964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DBD4D56E-7236-A32C-D516-32CFBBEC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descr="image.png">
            <a:extLst>
              <a:ext uri="{FF2B5EF4-FFF2-40B4-BE49-F238E27FC236}">
                <a16:creationId xmlns:a16="http://schemas.microsoft.com/office/drawing/2014/main" id="{4F977548-06E8-612B-74BE-36FDC012C9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>
            <a:extLst>
              <a:ext uri="{FF2B5EF4-FFF2-40B4-BE49-F238E27FC236}">
                <a16:creationId xmlns:a16="http://schemas.microsoft.com/office/drawing/2014/main" id="{6FB7FA39-3E68-8A9A-34E5-290C1CE14436}"/>
              </a:ext>
            </a:extLst>
          </p:cNvPr>
          <p:cNvSpPr txBox="1"/>
          <p:nvPr/>
        </p:nvSpPr>
        <p:spPr>
          <a:xfrm>
            <a:off x="116186" y="510081"/>
            <a:ext cx="11959628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ko-KR" altLang="en-US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증강현실과 가상현실은 즐기려면 </a:t>
            </a:r>
            <a:r>
              <a:rPr lang="ko-KR" altLang="en-US" sz="5400" b="1" dirty="0" err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웹어러블</a:t>
            </a:r>
            <a:r>
              <a:rPr lang="ko-KR" altLang="en-US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디바이스같이 </a:t>
            </a:r>
            <a:endParaRPr lang="en-US" altLang="ko-KR" sz="54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lvl="0" algn="ctr"/>
            <a:r>
              <a:rPr lang="ko-KR" altLang="en-US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복잡한걸 </a:t>
            </a:r>
            <a:r>
              <a:rPr lang="ko-KR" altLang="en-US" sz="5400" b="1" dirty="0" err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써야하나요</a:t>
            </a:r>
            <a:r>
              <a:rPr lang="en-US" altLang="ko-KR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? </a:t>
            </a:r>
            <a:endParaRPr sz="1000" dirty="0"/>
          </a:p>
        </p:txBody>
      </p:sp>
      <p:sp>
        <p:nvSpPr>
          <p:cNvPr id="190" name="Google Shape;190;p23">
            <a:extLst>
              <a:ext uri="{FF2B5EF4-FFF2-40B4-BE49-F238E27FC236}">
                <a16:creationId xmlns:a16="http://schemas.microsoft.com/office/drawing/2014/main" id="{FA787DB3-D094-5443-9B61-0F358DDF73BC}"/>
              </a:ext>
            </a:extLst>
          </p:cNvPr>
          <p:cNvSpPr txBox="1"/>
          <p:nvPr/>
        </p:nvSpPr>
        <p:spPr>
          <a:xfrm>
            <a:off x="3314700" y="3186112"/>
            <a:ext cx="55626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안영진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선생님이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무엇이든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답해줄게요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!</a:t>
            </a:r>
            <a:endParaRPr dirty="0"/>
          </a:p>
        </p:txBody>
      </p:sp>
      <p:sp>
        <p:nvSpPr>
          <p:cNvPr id="192" name="Google Shape;192;p23">
            <a:extLst>
              <a:ext uri="{FF2B5EF4-FFF2-40B4-BE49-F238E27FC236}">
                <a16:creationId xmlns:a16="http://schemas.microsoft.com/office/drawing/2014/main" id="{DD9602BA-57A0-B3D7-B11D-AC0637C34C74}"/>
              </a:ext>
            </a:extLst>
          </p:cNvPr>
          <p:cNvSpPr txBox="1"/>
          <p:nvPr/>
        </p:nvSpPr>
        <p:spPr>
          <a:xfrm>
            <a:off x="3314700" y="4614862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여러분의 멋진 미래를 응원합니다!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16007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E06171BE-1396-D290-878C-3A099C39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4CE6D2FA-B5A7-6E45-7803-C414896DB0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53A10ECD-72AD-BC26-1EC0-A19E80049B0D}"/>
              </a:ext>
            </a:extLst>
          </p:cNvPr>
          <p:cNvSpPr txBox="1"/>
          <p:nvPr/>
        </p:nvSpPr>
        <p:spPr>
          <a:xfrm>
            <a:off x="6334125" y="2004069"/>
            <a:ext cx="555069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 u="none" strike="noStrike" cap="none" dirty="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반 </a:t>
            </a:r>
            <a:r>
              <a:rPr lang="ko-KR" altLang="en-US" sz="3000" b="1" i="0" u="none" strike="noStrike" cap="none" dirty="0" err="1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쯤</a:t>
            </a:r>
            <a:r>
              <a:rPr lang="ko-KR" altLang="en-US" sz="3000" b="1" dirty="0">
                <a:solidFill>
                  <a:srgbClr val="FF823A"/>
                </a:solidFill>
                <a:latin typeface="Afacad Flux"/>
                <a:ea typeface="Afacad Flux"/>
                <a:cs typeface="Afacad Flux"/>
                <a:sym typeface="Afacad Flux"/>
              </a:rPr>
              <a:t> 맞습니다</a:t>
            </a:r>
            <a:endParaRPr dirty="0"/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CC800489-4C8A-94E1-949E-26100BCD257C}"/>
              </a:ext>
            </a:extLst>
          </p:cNvPr>
          <p:cNvSpPr txBox="1"/>
          <p:nvPr/>
        </p:nvSpPr>
        <p:spPr>
          <a:xfrm>
            <a:off x="6334125" y="2908944"/>
            <a:ext cx="5753491" cy="210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증강현실</a:t>
            </a:r>
            <a:r>
              <a:rPr lang="en-US" altLang="ko-KR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(AR)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은 우리가 이미 가지고 있는 스마트폰의 카메라와 센서만으로도 충분히 마법 같은 화면을 만들 수 있기 때문</a:t>
            </a:r>
            <a:r>
              <a:rPr lang="ko-KR" altLang="en-US" sz="1950" dirty="0">
                <a:solidFill>
                  <a:schemeClr val="tx1"/>
                </a:solidFill>
                <a:latin typeface="Afacad Flux"/>
                <a:ea typeface="Afacad Flux"/>
                <a:cs typeface="Afacad Flux"/>
                <a:sym typeface="Afacad Flux"/>
              </a:rPr>
              <a:t>에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복잡한 장비가 전혀 필요 없으며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가상현실</a:t>
            </a:r>
            <a:r>
              <a:rPr lang="en-US" altLang="ko-KR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(VR)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처럼 눈을 완전히 가리고 다른 세상으로 쏙 들어가고 싶을 때만 전용 헤드셋을 쓰는 것이므로 </a:t>
            </a:r>
            <a:r>
              <a:rPr lang="en-US" altLang="ko-KR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"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복잡한 장비를 꼭 써야 한다</a:t>
            </a:r>
            <a:r>
              <a:rPr lang="en-US" altLang="ko-KR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"</a:t>
            </a:r>
            <a:r>
              <a:rPr lang="ko-KR" altLang="en-US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는 말은 정답이 아닙니다</a:t>
            </a:r>
            <a:r>
              <a:rPr lang="en-US" altLang="ko-KR" sz="1950" b="1" dirty="0">
                <a:solidFill>
                  <a:srgbClr val="FF0000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수업이 끝나면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AR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을 직접 휴대폰으로 </a:t>
            </a:r>
            <a:r>
              <a:rPr lang="ko-KR" altLang="en-US" sz="195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즐겨볼거에요</a:t>
            </a:r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4C51F3AF-170A-4EF4-DA42-F7CD211D8C2B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정답은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D9108D-9C4F-403A-464A-6EDA8E6243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67" t="23385" r="59041" b="15291"/>
          <a:stretch>
            <a:fillRect/>
          </a:stretch>
        </p:blipFill>
        <p:spPr>
          <a:xfrm>
            <a:off x="782625" y="1621358"/>
            <a:ext cx="4163538" cy="413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68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7F1DF74C-359F-674C-E8A9-FDF25F0B0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>
            <a:extLst>
              <a:ext uri="{FF2B5EF4-FFF2-40B4-BE49-F238E27FC236}">
                <a16:creationId xmlns:a16="http://schemas.microsoft.com/office/drawing/2014/main" id="{137B7BE7-FB59-08CA-C8AF-20F3D4DF5E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>
            <a:extLst>
              <a:ext uri="{FF2B5EF4-FFF2-40B4-BE49-F238E27FC236}">
                <a16:creationId xmlns:a16="http://schemas.microsoft.com/office/drawing/2014/main" id="{C7F03032-EE07-F507-8EF6-94EFC9225005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소프트웨어</a:t>
            </a:r>
            <a:endParaRPr dirty="0"/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30621007-BD29-09AB-B7A6-5EC77679FAF2}"/>
              </a:ext>
            </a:extLst>
          </p:cNvPr>
          <p:cNvSpPr txBox="1"/>
          <p:nvPr/>
        </p:nvSpPr>
        <p:spPr>
          <a:xfrm>
            <a:off x="618734" y="1743163"/>
            <a:ext cx="9953233" cy="2239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책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</a:p>
          <a:p>
            <a:pPr lvl="0"/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부드러운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이라는 뜻의 소프트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(Soft)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와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제품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'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이라는 뜻의 </a:t>
            </a:r>
            <a:r>
              <a:rPr lang="ko-KR" altLang="en-US" sz="1950" dirty="0" err="1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웨어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(Ware)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의 두 단어가 복합되어 이루어진 단어로 시스템 소프트웨어와 응용 소프트웨어로 구분됩니다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  <a:p>
            <a:pPr lvl="0"/>
            <a:endParaRPr lang="en-US" altLang="ko-KR" sz="195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쉽게 표현하기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소프트웨어는 프로그램이나 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OS(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운영체제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)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처럼 눈에 보이지 않고 만질 수도 없지만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컴퓨터가 무엇을 해야 할지 알려주는 똑똑한 생각과 같아요</a:t>
            </a:r>
            <a:r>
              <a:rPr lang="en-US" altLang="ko-KR" sz="195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02721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25B24B3-6F50-C7B6-846B-2C03079F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EC84F384-C365-A7D6-8CED-A90AE9D635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956B0DD3-DDDF-3D7C-B41E-CA96A14F2ADC}"/>
              </a:ext>
            </a:extLst>
          </p:cNvPr>
          <p:cNvSpPr txBox="1"/>
          <p:nvPr/>
        </p:nvSpPr>
        <p:spPr>
          <a:xfrm>
            <a:off x="4333645" y="2855546"/>
            <a:ext cx="768187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사용자가 컴퓨터 하드웨어 및 각종 장치 정보를 효율적으로 사용할 수 있게 도와주는 소프트웨어를 말하며 대표적으로 운영체제가 있습니다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ex)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윈도우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안드로이드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iOS,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리눅스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등</a:t>
            </a:r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lvl="0"/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980B15D-FF59-FF04-1A89-E772D3C69F08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시스템 소프트웨어란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E172868-C2C8-2205-CD73-F812CE4EC9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91" b="-610"/>
          <a:stretch>
            <a:fillRect/>
          </a:stretch>
        </p:blipFill>
        <p:spPr>
          <a:xfrm>
            <a:off x="858416" y="1402604"/>
            <a:ext cx="2238204" cy="40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80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88A616C-7E10-4141-7887-71ECDE16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1C5A3D77-1B42-5EB5-0E50-C44F1D190F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D1E94045-E7CE-9356-BB9D-65DB3B5B28FD}"/>
              </a:ext>
            </a:extLst>
          </p:cNvPr>
          <p:cNvSpPr txBox="1"/>
          <p:nvPr/>
        </p:nvSpPr>
        <p:spPr>
          <a:xfrm>
            <a:off x="4333645" y="2855546"/>
            <a:ext cx="768187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사용자가 컴퓨터를 사용하여 어떠한 일을 하려고 할 때 사용되는 모든 프로그램을 말합니다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게임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그래픽 메신저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파워포인트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워드프로세서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 </a:t>
            </a:r>
            <a:r>
              <a:rPr lang="ko-KR" altLang="en-US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웹 브라우저 등이 있습니다</a:t>
            </a:r>
            <a:r>
              <a:rPr lang="en-US" altLang="ko-KR" sz="2400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</a:p>
          <a:p>
            <a:pPr lvl="0"/>
            <a:endParaRPr lang="en-US" altLang="ko-KR" sz="2400" dirty="0">
              <a:solidFill>
                <a:srgbClr val="334155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A01A9428-8FCF-295C-B468-B4C3EE527088}"/>
              </a:ext>
            </a:extLst>
          </p:cNvPr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ko-KR" altLang="en-US" sz="3900" b="1" dirty="0" err="1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응용소프트웨어란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EC135C-1380-98B9-39B7-187732C97D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7" r="397"/>
          <a:stretch/>
        </p:blipFill>
        <p:spPr>
          <a:xfrm>
            <a:off x="858415" y="1402604"/>
            <a:ext cx="2486033" cy="449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92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54E744F1-E5BB-A7E6-27FD-22CB4B266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>
            <a:extLst>
              <a:ext uri="{FF2B5EF4-FFF2-40B4-BE49-F238E27FC236}">
                <a16:creationId xmlns:a16="http://schemas.microsoft.com/office/drawing/2014/main" id="{6697C541-F12F-7D2B-C68E-E2EF82CD5DB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989"/>
                    </a14:imgEffect>
                    <a14:imgEffect>
                      <a14:saturation sat="31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>
            <a:noFill/>
          </a:ln>
        </p:spPr>
      </p:pic>
      <p:sp>
        <p:nvSpPr>
          <p:cNvPr id="115" name="Google Shape;115;p16">
            <a:extLst>
              <a:ext uri="{FF2B5EF4-FFF2-40B4-BE49-F238E27FC236}">
                <a16:creationId xmlns:a16="http://schemas.microsoft.com/office/drawing/2014/main" id="{2193A86C-9115-3E22-91A2-13D8AEF33FA9}"/>
              </a:ext>
            </a:extLst>
          </p:cNvPr>
          <p:cNvSpPr txBox="1"/>
          <p:nvPr/>
        </p:nvSpPr>
        <p:spPr>
          <a:xfrm>
            <a:off x="3250644" y="1643062"/>
            <a:ext cx="569071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chemeClr val="bg2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r>
              <a:rPr lang="ko-KR" altLang="en-US" sz="6000" b="1" i="0" u="none" strike="noStrike" cap="none" dirty="0">
                <a:solidFill>
                  <a:schemeClr val="bg2"/>
                </a:solidFill>
                <a:latin typeface="Comfortaa"/>
                <a:ea typeface="Comfortaa"/>
                <a:cs typeface="Comfortaa"/>
                <a:sym typeface="Comfortaa"/>
              </a:rPr>
              <a:t>번째 </a:t>
            </a:r>
            <a:r>
              <a:rPr lang="ko-KR" altLang="en-US" sz="6000" b="1" dirty="0">
                <a:solidFill>
                  <a:schemeClr val="bg2"/>
                </a:solidFill>
                <a:latin typeface="Comfortaa"/>
                <a:ea typeface="Comfortaa"/>
                <a:cs typeface="Comfortaa"/>
                <a:sym typeface="Comfortaa"/>
              </a:rPr>
              <a:t>놀이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16" name="Google Shape;116;p16">
            <a:extLst>
              <a:ext uri="{FF2B5EF4-FFF2-40B4-BE49-F238E27FC236}">
                <a16:creationId xmlns:a16="http://schemas.microsoft.com/office/drawing/2014/main" id="{F60F20B3-93F3-C7BF-1292-B0CE065F8572}"/>
              </a:ext>
            </a:extLst>
          </p:cNvPr>
          <p:cNvSpPr txBox="1"/>
          <p:nvPr/>
        </p:nvSpPr>
        <p:spPr>
          <a:xfrm>
            <a:off x="1852132" y="3082751"/>
            <a:ext cx="8487734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5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숨은 하드웨어</a:t>
            </a:r>
            <a:r>
              <a:rPr lang="en-US" altLang="ko-KR" sz="45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,</a:t>
            </a:r>
            <a:r>
              <a:rPr lang="ko-KR" altLang="en-US" sz="45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소프트웨어 맞추기</a:t>
            </a:r>
            <a:endParaRPr lang="en-US" dirty="0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8FA88290-BC71-A625-CF44-C9635EE49E08}"/>
              </a:ext>
            </a:extLst>
          </p:cNvPr>
          <p:cNvSpPr txBox="1"/>
          <p:nvPr/>
        </p:nvSpPr>
        <p:spPr>
          <a:xfrm>
            <a:off x="3386137" y="4586287"/>
            <a:ext cx="54197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싸우지 말고 </a:t>
            </a:r>
            <a:r>
              <a:rPr lang="ko-KR" altLang="en-US" sz="2100" b="0" i="0" u="none" strike="noStrike" cap="none" dirty="0" err="1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친구들이랑</a:t>
            </a:r>
            <a:r>
              <a:rPr lang="ko-KR" altLang="en-US" sz="2100" b="0" i="0" u="none" strike="noStrike" cap="none" dirty="0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 협동하기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7906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67D7F31-4E45-74F0-E44B-927889D72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16189944-B137-C8B4-3899-90E3A16DD7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48900CE1-DC43-5DC0-9C79-EECB8B4630EB}"/>
              </a:ext>
            </a:extLst>
          </p:cNvPr>
          <p:cNvSpPr txBox="1"/>
          <p:nvPr/>
        </p:nvSpPr>
        <p:spPr>
          <a:xfrm>
            <a:off x="0" y="571500"/>
            <a:ext cx="121729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하드웨어는 어디에 소프트웨어는 어디에 있을까요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318FCAB-AC5A-DC0C-2931-E731DB77AD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87" t="5079" r="52669" b="65076"/>
          <a:stretch>
            <a:fillRect/>
          </a:stretch>
        </p:blipFill>
        <p:spPr>
          <a:xfrm>
            <a:off x="1485903" y="1479395"/>
            <a:ext cx="9220193" cy="480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59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CE0F9FCD-6AEB-17B6-E728-7906B2524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>
            <a:extLst>
              <a:ext uri="{FF2B5EF4-FFF2-40B4-BE49-F238E27FC236}">
                <a16:creationId xmlns:a16="http://schemas.microsoft.com/office/drawing/2014/main" id="{6899B509-8686-2019-A97E-096E1ADC26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0D32C0DC-8B38-3FAD-F581-228E427D1D2F}"/>
              </a:ext>
            </a:extLst>
          </p:cNvPr>
          <p:cNvSpPr txBox="1"/>
          <p:nvPr/>
        </p:nvSpPr>
        <p:spPr>
          <a:xfrm>
            <a:off x="0" y="571500"/>
            <a:ext cx="121729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ko-KR" altLang="en-US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하드웨어는 어디에 소프트웨어는 어디에 있을까요</a:t>
            </a:r>
            <a:r>
              <a:rPr lang="en-US" altLang="ko-KR" sz="3900" b="1" dirty="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?</a:t>
            </a:r>
            <a:endParaRPr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1A15F25-48B3-6CD4-2614-3DA3DDD015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87" t="5079" r="52669" b="65076"/>
          <a:stretch>
            <a:fillRect/>
          </a:stretch>
        </p:blipFill>
        <p:spPr>
          <a:xfrm>
            <a:off x="1485903" y="1479395"/>
            <a:ext cx="9220193" cy="4807105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6ADC4D49-A442-4142-4815-BC81DA907883}"/>
              </a:ext>
            </a:extLst>
          </p:cNvPr>
          <p:cNvSpPr/>
          <p:nvPr/>
        </p:nvSpPr>
        <p:spPr>
          <a:xfrm>
            <a:off x="3992137" y="2059259"/>
            <a:ext cx="2817541" cy="1977482"/>
          </a:xfrm>
          <a:prstGeom prst="ellipse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8D9EE28-00A7-8DE7-8E95-BFF90D1BF93A}"/>
              </a:ext>
            </a:extLst>
          </p:cNvPr>
          <p:cNvSpPr/>
          <p:nvPr/>
        </p:nvSpPr>
        <p:spPr>
          <a:xfrm>
            <a:off x="2984608" y="4440477"/>
            <a:ext cx="2251272" cy="113986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9DD328A-8177-7EAD-3575-009D07D5636D}"/>
              </a:ext>
            </a:extLst>
          </p:cNvPr>
          <p:cNvSpPr/>
          <p:nvPr/>
        </p:nvSpPr>
        <p:spPr>
          <a:xfrm>
            <a:off x="1727830" y="2743200"/>
            <a:ext cx="1211612" cy="144594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53CACEA-E7A0-A359-F245-3BE809DE5F5A}"/>
              </a:ext>
            </a:extLst>
          </p:cNvPr>
          <p:cNvSpPr/>
          <p:nvPr/>
        </p:nvSpPr>
        <p:spPr>
          <a:xfrm>
            <a:off x="3231335" y="1631718"/>
            <a:ext cx="5067158" cy="307806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BBFC2BD-62A3-CA57-D08F-5C78055EE857}"/>
              </a:ext>
            </a:extLst>
          </p:cNvPr>
          <p:cNvSpPr/>
          <p:nvPr/>
        </p:nvSpPr>
        <p:spPr>
          <a:xfrm>
            <a:off x="5100321" y="5002461"/>
            <a:ext cx="2448370" cy="11398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2665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3250644" y="1643062"/>
            <a:ext cx="569071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r>
              <a:rPr lang="ko-KR" altLang="en-US" sz="6000" b="1" i="0" u="none" strike="noStrike" cap="none" dirty="0">
                <a:solidFill>
                  <a:srgbClr val="FF823A"/>
                </a:solidFill>
                <a:latin typeface="Comfortaa"/>
                <a:ea typeface="Comfortaa"/>
                <a:cs typeface="Comfortaa"/>
                <a:sym typeface="Comfortaa"/>
              </a:rPr>
              <a:t>번째 놀이</a:t>
            </a:r>
            <a:endParaRPr dirty="0"/>
          </a:p>
        </p:txBody>
      </p:sp>
      <p:sp>
        <p:nvSpPr>
          <p:cNvPr id="116" name="Google Shape;116;p16"/>
          <p:cNvSpPr txBox="1"/>
          <p:nvPr/>
        </p:nvSpPr>
        <p:spPr>
          <a:xfrm>
            <a:off x="155787" y="3230091"/>
            <a:ext cx="1190074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AR</a:t>
            </a:r>
            <a:r>
              <a:rPr lang="ko-KR" altLang="en-US" sz="4500" b="1" i="0" u="none" strike="noStrike" cap="none" dirty="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소프트웨어와 다양한 운영체제 체험하기</a:t>
            </a:r>
            <a:endParaRPr dirty="0"/>
          </a:p>
        </p:txBody>
      </p:sp>
      <p:sp>
        <p:nvSpPr>
          <p:cNvPr id="117" name="Google Shape;117;p16"/>
          <p:cNvSpPr txBox="1"/>
          <p:nvPr/>
        </p:nvSpPr>
        <p:spPr>
          <a:xfrm>
            <a:off x="3386137" y="4586287"/>
            <a:ext cx="54197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64748B"/>
                </a:solidFill>
                <a:latin typeface="Afacad Flux"/>
                <a:ea typeface="Afacad Flux"/>
                <a:cs typeface="Afacad Flux"/>
                <a:sym typeface="Afacad Flux"/>
              </a:rPr>
              <a:t>재미있게 감상하기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3565683" y="1643062"/>
            <a:ext cx="506063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60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r>
              <a:rPr lang="ko-KR" altLang="en-US" sz="60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 번째 놀이</a:t>
            </a:r>
            <a:endParaRPr dirty="0"/>
          </a:p>
        </p:txBody>
      </p:sp>
      <p:sp>
        <p:nvSpPr>
          <p:cNvPr id="175" name="Google Shape;175;p21"/>
          <p:cNvSpPr txBox="1"/>
          <p:nvPr/>
        </p:nvSpPr>
        <p:spPr>
          <a:xfrm>
            <a:off x="3565683" y="3243262"/>
            <a:ext cx="506063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500" b="1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리눅스 체험하기</a:t>
            </a:r>
            <a:endParaRPr dirty="0"/>
          </a:p>
        </p:txBody>
      </p:sp>
      <p:sp>
        <p:nvSpPr>
          <p:cNvPr id="176" name="Google Shape;176;p21"/>
          <p:cNvSpPr txBox="1"/>
          <p:nvPr/>
        </p:nvSpPr>
        <p:spPr>
          <a:xfrm>
            <a:off x="3686175" y="4586287"/>
            <a:ext cx="4819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0" i="0" u="none" strike="noStrike" cap="none" dirty="0">
                <a:solidFill>
                  <a:srgbClr val="E2E8F0"/>
                </a:solidFill>
                <a:latin typeface="Afacad Flux"/>
                <a:ea typeface="Afacad Flux"/>
                <a:cs typeface="Afacad Flux"/>
                <a:sym typeface="Afacad Flux"/>
              </a:rPr>
              <a:t>그림이 없는 컴퓨터가 있어요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B04B0039-6531-76D7-47B4-31DF0BBA6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1" descr="image.png">
            <a:extLst>
              <a:ext uri="{FF2B5EF4-FFF2-40B4-BE49-F238E27FC236}">
                <a16:creationId xmlns:a16="http://schemas.microsoft.com/office/drawing/2014/main" id="{A325D414-37EC-A3B9-15EA-AFA4D31BDD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>
            <a:extLst>
              <a:ext uri="{FF2B5EF4-FFF2-40B4-BE49-F238E27FC236}">
                <a16:creationId xmlns:a16="http://schemas.microsoft.com/office/drawing/2014/main" id="{3D7EEC0B-EBC7-19FC-047E-DB28E4D0AEBD}"/>
              </a:ext>
            </a:extLst>
          </p:cNvPr>
          <p:cNvSpPr txBox="1"/>
          <p:nvPr/>
        </p:nvSpPr>
        <p:spPr>
          <a:xfrm>
            <a:off x="3565683" y="1643062"/>
            <a:ext cx="506063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ko-KR" altLang="en-US" sz="6000" b="1" i="0" u="none" strike="noStrike" cap="none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숙제</a:t>
            </a:r>
            <a:endParaRPr dirty="0"/>
          </a:p>
        </p:txBody>
      </p:sp>
      <p:sp>
        <p:nvSpPr>
          <p:cNvPr id="175" name="Google Shape;175;p21">
            <a:extLst>
              <a:ext uri="{FF2B5EF4-FFF2-40B4-BE49-F238E27FC236}">
                <a16:creationId xmlns:a16="http://schemas.microsoft.com/office/drawing/2014/main" id="{A69C479C-6701-DECF-6FD4-429B46630D0B}"/>
              </a:ext>
            </a:extLst>
          </p:cNvPr>
          <p:cNvSpPr txBox="1"/>
          <p:nvPr/>
        </p:nvSpPr>
        <p:spPr>
          <a:xfrm>
            <a:off x="2324708" y="3317769"/>
            <a:ext cx="754258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500" b="1" i="0" u="none" strike="noStrike" cap="none" dirty="0" err="1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부모님이랑</a:t>
            </a:r>
            <a:r>
              <a:rPr lang="ko-KR" altLang="en-US" sz="4500" b="1" i="0" u="none" strike="noStrike" cap="none" dirty="0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구글계정 만들기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104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574</Words>
  <Application>Microsoft Office PowerPoint</Application>
  <PresentationFormat>와이드스크린</PresentationFormat>
  <Paragraphs>65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Comfortaa</vt:lpstr>
      <vt:lpstr>Afacad Flux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안영진</dc:creator>
  <cp:lastModifiedBy>영진 안</cp:lastModifiedBy>
  <cp:revision>36</cp:revision>
  <dcterms:modified xsi:type="dcterms:W3CDTF">2026-03-05T14:57:24Z</dcterms:modified>
</cp:coreProperties>
</file>